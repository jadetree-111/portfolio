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2" r:id="rId6"/>
    <p:sldId id="380" r:id="rId7"/>
    <p:sldId id="266" r:id="rId8"/>
    <p:sldId id="280" r:id="rId9"/>
    <p:sldId id="28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78A"/>
    <a:srgbClr val="02419C"/>
    <a:srgbClr val="003F88"/>
    <a:srgbClr val="8C1515"/>
    <a:srgbClr val="B70031"/>
    <a:srgbClr val="6B0261"/>
    <a:srgbClr val="0C4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AE505-B7CA-4E96-AE4D-61AFDB83C7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2726-83B8-45B8-96BB-E4D4FAD8F0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359" y="51872"/>
            <a:ext cx="1935681" cy="7076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993" y="76124"/>
            <a:ext cx="2177354" cy="6484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25033" y="6425619"/>
            <a:ext cx="2276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359" y="51872"/>
            <a:ext cx="1935681" cy="7076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993" y="76124"/>
            <a:ext cx="2177354" cy="6484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hemeOverride" Target="../theme/themeOverrid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hemeOverride" Target="../theme/themeOverride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slideLayout" Target="../slideLayouts/slideLayout1.xml"/><Relationship Id="rId14" Type="http://schemas.openxmlformats.org/officeDocument/2006/relationships/themeOverride" Target="../theme/themeOverride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2165" y="-150030"/>
            <a:ext cx="6600596" cy="6600596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99" b="33499"/>
          <a:stretch>
            <a:fillRect/>
          </a:stretch>
        </p:blipFill>
        <p:spPr bwMode="auto">
          <a:xfrm>
            <a:off x="0" y="2107758"/>
            <a:ext cx="12215445" cy="302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0" y="2107758"/>
            <a:ext cx="12215445" cy="3023423"/>
          </a:xfrm>
          <a:prstGeom prst="rect">
            <a:avLst/>
          </a:prstGeom>
          <a:solidFill>
            <a:schemeClr val="accent3">
              <a:alpha val="81961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0" name="Group 15"/>
          <p:cNvGrpSpPr/>
          <p:nvPr/>
        </p:nvGrpSpPr>
        <p:grpSpPr>
          <a:xfrm>
            <a:off x="-46941" y="2807039"/>
            <a:ext cx="12238891" cy="1938020"/>
            <a:chOff x="-1525061" y="3086874"/>
            <a:chExt cx="10844926" cy="1938020"/>
          </a:xfrm>
        </p:grpSpPr>
        <p:sp>
          <p:nvSpPr>
            <p:cNvPr id="11" name="Rectangle 9"/>
            <p:cNvSpPr/>
            <p:nvPr/>
          </p:nvSpPr>
          <p:spPr>
            <a:xfrm>
              <a:off x="-333920" y="3086874"/>
              <a:ext cx="8462644" cy="1938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新能源风力发电项目分析</a:t>
              </a:r>
              <a:endParaRPr lang="zh-CN" altLang="en-US" sz="6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r>
                <a:rPr lang="en-US" altLang="zh-CN" sz="60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                 </a:t>
              </a:r>
              <a:r>
                <a:rPr lang="en-US" altLang="zh-CN" sz="4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——</a:t>
              </a:r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以金风科技为例</a:t>
              </a:r>
              <a:endParaRPr lang="zh-CN" altLang="en-US" sz="4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2" name="Rectangle 10"/>
            <p:cNvSpPr/>
            <p:nvPr/>
          </p:nvSpPr>
          <p:spPr>
            <a:xfrm>
              <a:off x="-1525061" y="4543511"/>
              <a:ext cx="10844926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zh-CN" altLang="en-US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V="1">
            <a:off x="-614597" y="5492316"/>
            <a:ext cx="5049649" cy="17338"/>
          </a:xfrm>
          <a:prstGeom prst="lin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V="1">
            <a:off x="7789874" y="5417744"/>
            <a:ext cx="5326519" cy="91910"/>
          </a:xfrm>
          <a:prstGeom prst="lin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sp>
        <p:nvSpPr>
          <p:cNvPr id="3" name="文本框 2"/>
          <p:cNvSpPr txBox="1"/>
          <p:nvPr/>
        </p:nvSpPr>
        <p:spPr>
          <a:xfrm>
            <a:off x="5178629" y="6334452"/>
            <a:ext cx="1867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2419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endParaRPr lang="zh-CN" altLang="en-US" sz="2800" dirty="0">
              <a:solidFill>
                <a:srgbClr val="02419C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3"/>
              </a:solidFill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PEST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宏观环境分析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478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1138302" y="1411968"/>
            <a:ext cx="4646930" cy="4556125"/>
            <a:chOff x="1992609" y="2919084"/>
            <a:chExt cx="4646930" cy="4556125"/>
          </a:xfrm>
        </p:grpSpPr>
        <p:sp>
          <p:nvSpPr>
            <p:cNvPr id="31" name="文本框 30"/>
            <p:cNvSpPr txBox="1"/>
            <p:nvPr>
              <p:custDataLst>
                <p:tags r:id="rId2"/>
              </p:custDataLst>
            </p:nvPr>
          </p:nvSpPr>
          <p:spPr>
            <a:xfrm>
              <a:off x="3421812" y="2919084"/>
              <a:ext cx="216024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</a:rPr>
                <a:t>POLITICS</a:t>
              </a:r>
              <a:endParaRPr lang="en-US" altLang="zh-CN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3"/>
              </p:custDataLst>
            </p:nvPr>
          </p:nvSpPr>
          <p:spPr>
            <a:xfrm>
              <a:off x="1992609" y="3233409"/>
              <a:ext cx="4646930" cy="42418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Political Stability——“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十五五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装机目标：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2026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年初发布的《风能北京宣言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》明确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十五五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期间年均新增风电装机不低于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1.2 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亿千</a:t>
              </a:r>
              <a:r>
                <a:rPr 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瓦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，到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2030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年累计并网容量达到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13 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亿千瓦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Capacity Expansion——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新增装机指标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配额制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各省风电新增指标由政府统筹分配，非完全市场化。部分省份指标释放节奏慢、分配向本地国企倾斜，影响头部企业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尤其是金风科技这样的龙头企业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扩张速度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Entry Barrier——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海外市场认证壁垒：欧盟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CE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认证、美国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UL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认证周期长、成本高。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2026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年欧盟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FSR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调查进一步抬高了合规门槛与不确定性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4"/>
            </p:custDataLst>
          </p:nvPr>
        </p:nvGrpSpPr>
        <p:grpSpPr>
          <a:xfrm>
            <a:off x="5785549" y="1411968"/>
            <a:ext cx="5347335" cy="4556125"/>
            <a:chOff x="-434996" y="2919084"/>
            <a:chExt cx="5347335" cy="4556125"/>
          </a:xfrm>
        </p:grpSpPr>
        <p:sp>
          <p:nvSpPr>
            <p:cNvPr id="37" name="文本框 36"/>
            <p:cNvSpPr txBox="1"/>
            <p:nvPr>
              <p:custDataLst>
                <p:tags r:id="rId5"/>
              </p:custDataLst>
            </p:nvPr>
          </p:nvSpPr>
          <p:spPr>
            <a:xfrm>
              <a:off x="1158037" y="2919084"/>
              <a:ext cx="216024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</a:rPr>
                <a:t>ECONOMY</a:t>
              </a:r>
              <a:endParaRPr lang="en-US" altLang="zh-CN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6"/>
              </p:custDataLst>
            </p:nvPr>
          </p:nvSpPr>
          <p:spPr>
            <a:xfrm>
              <a:off x="-434996" y="3233409"/>
              <a:ext cx="5347335" cy="42418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紧缩性政策——136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号文电价市场化改革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：风电电量原则上全部入市、电价由市场形成，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风电价格保护机制取消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。2025年二季度部分区域风电交易电价同比下降8%——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新兴经济体需求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绿色甲醇：国际航运减碳拉动绿色甲醇需求，金风科技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万吨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年绿色甲醇项目已投产并锁定国际航运巨头长协订单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，新兴经济成为风电消纳的新出口（风电不稳定、难储存，而绿色甲醇把不稳定的风能，转化成了可以储存、运输的液态燃料）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人均消费支出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随着我国人均消费支出持续增长（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年人均消费支出约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2.8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万元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年，较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2015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年增长约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80%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），居民对市场化电价的承受能力显著增强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3"/>
              </a:solidFill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PEST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宏观环境分析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478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1138302" y="1411968"/>
            <a:ext cx="4646930" cy="4556125"/>
            <a:chOff x="1992609" y="2919084"/>
            <a:chExt cx="4646930" cy="4556125"/>
          </a:xfrm>
        </p:grpSpPr>
        <p:sp>
          <p:nvSpPr>
            <p:cNvPr id="31" name="文本框 30"/>
            <p:cNvSpPr txBox="1"/>
            <p:nvPr>
              <p:custDataLst>
                <p:tags r:id="rId2"/>
              </p:custDataLst>
            </p:nvPr>
          </p:nvSpPr>
          <p:spPr>
            <a:xfrm>
              <a:off x="3421812" y="2919084"/>
              <a:ext cx="216024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</a:rPr>
                <a:t>SOCIAL</a:t>
              </a:r>
              <a:endParaRPr lang="en-US" altLang="zh-CN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3"/>
              </p:custDataLst>
            </p:nvPr>
          </p:nvSpPr>
          <p:spPr>
            <a:xfrm>
              <a:off x="1992609" y="3233409"/>
              <a:ext cx="4646930" cy="42418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后疫情时代健康关注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后疫情时代，公众对空气质量、呼吸健康的关注空前提升。风电作为零排放能源，替代火电可直接减少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PM2.5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SO</a:t>
              </a:r>
              <a:r>
                <a:rPr lang="en-US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₂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等污染物排放。在雾霾频发的京津冀、长三角地区，公众对风电的接受度显著提高，项目核准的社会阻力降低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ESG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成为融资的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通行证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全球主流金融机构已将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ESG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评级纳入授信、投资决策。风电企业天然具备低碳属性，在绿色债券、绿色贷款、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ESG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基金投资中享有更低融资成本。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年风电企业融资成本较传统能源企业低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50-100bp——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生态保护诉求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对风电项目的鸟类影响、噪音、景观破坏提出更高要求。项目选址、环评、社区沟通能力成为关键竞争要素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4"/>
            </p:custDataLst>
          </p:nvPr>
        </p:nvGrpSpPr>
        <p:grpSpPr>
          <a:xfrm>
            <a:off x="5785549" y="1411968"/>
            <a:ext cx="5347335" cy="4556125"/>
            <a:chOff x="-434996" y="2919084"/>
            <a:chExt cx="5347335" cy="4556125"/>
          </a:xfrm>
        </p:grpSpPr>
        <p:sp>
          <p:nvSpPr>
            <p:cNvPr id="37" name="文本框 36"/>
            <p:cNvSpPr txBox="1"/>
            <p:nvPr>
              <p:custDataLst>
                <p:tags r:id="rId5"/>
              </p:custDataLst>
            </p:nvPr>
          </p:nvSpPr>
          <p:spPr>
            <a:xfrm>
              <a:off x="1646987" y="2919084"/>
              <a:ext cx="216024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chemeClr val="accent3"/>
                  </a:solidFill>
                  <a:latin typeface="微软雅黑" panose="020B0503020204020204" charset="-122"/>
                  <a:ea typeface="微软雅黑" panose="020B0503020204020204" charset="-122"/>
                </a:rPr>
                <a:t>TECH</a:t>
              </a:r>
              <a:endParaRPr lang="en-US" altLang="zh-CN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6"/>
              </p:custDataLst>
            </p:nvPr>
          </p:nvSpPr>
          <p:spPr>
            <a:xfrm>
              <a:off x="-434996" y="3233409"/>
              <a:ext cx="5347335" cy="42418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驱动的预测性维护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金风科技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天工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智能平台通过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算法提前预警齿轮箱故障，运维成本降低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40%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。结合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与数字孪生技术，实现对风机健康状态的精准预测，从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被动维修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转向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主动预警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绿色甲醇全产业链贯通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金风科技兴安盟绿氢制绿色甲醇项目总产能规划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157.5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万吨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年，是目前国内规模最大的绿氢制甲醇标杆项目，配套建设超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万千瓦风电。乌拉特中旗项目规划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300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万千瓦风电，形成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风光发电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绿氢制备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绿色化工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全产业链闭环。绿色甲醇打开了航运、化工等万亿级消纳场景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云计算与服务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金风科技自研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GTSim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仿真平台，依托云计算能力完成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兆瓦机组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4000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余项工况仿真，并通过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兆瓦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试验台完成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2000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余项实验项目。云化仿真平台大幅缩短研发周期，降低物理试验成本</a:t>
              </a:r>
              <a:r>
                <a:rPr lang="en-US" altLang="zh-CN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 spc="12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机会</a:t>
              </a:r>
              <a:endParaRPr lang="zh-CN" altLang="en-US" sz="1400" spc="12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3"/>
              </a:solidFill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核心结论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478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965835" y="1717040"/>
            <a:ext cx="10436225" cy="415607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612000" rIns="108000" bIns="0" rtlCol="0" anchor="t"/>
          <a:lstStyle/>
          <a:p>
            <a:pPr marL="285750" indent="-285750" defTabSz="457200">
              <a:lnSpc>
                <a:spcPct val="120000"/>
              </a:lnSpc>
              <a:spcAft>
                <a:spcPts val="1200"/>
              </a:spcAft>
              <a:buClr>
                <a:srgbClr val="6B0261"/>
              </a:buClr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十五五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期间年均新增风电装机不低于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1.2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亿千瓦的刚性目标，为行业提供了清晰的增长预期。然而，国内指标配额制管理导致部分省份资源向地方国企倾斜，海外市场则面临欧盟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CE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认证、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FSR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调查等准入壁垒。总体而言，政策端对具备技术实力和全球化布局的龙头企业形成正向筛选。</a:t>
            </a:r>
            <a:endParaRPr lang="zh-CN" altLang="en-US" sz="14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  <a:p>
            <a:pPr marL="285750" indent="-285750" defTabSz="457200">
              <a:lnSpc>
                <a:spcPct val="120000"/>
              </a:lnSpc>
              <a:spcAft>
                <a:spcPts val="1200"/>
              </a:spcAft>
              <a:buClr>
                <a:srgbClr val="6B0261"/>
              </a:buClr>
              <a:buFont typeface="Arial" panose="020B0604020202020204" pitchFamily="34" charset="0"/>
              <a:buChar char="•"/>
            </a:pP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136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号文推动风电全面入市，短期带来电价波动压力，但长期将加速落后产能出清。与此同时，绿色甲醇作为国际航运脱碳的核心路径，已形成实质性商业化订单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——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金风科技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25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万吨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/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年项目锁定马士基等巨头长协，为风电消纳开辟了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不依赖电网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的全新通道。经济可行性已从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补贴依赖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转向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市场化盈利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+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绿色溢价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的驱动。</a:t>
            </a:r>
            <a:endParaRPr lang="zh-CN" altLang="en-US" sz="14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  <a:p>
            <a:pPr marL="285750" indent="-285750" defTabSz="457200">
              <a:lnSpc>
                <a:spcPct val="120000"/>
              </a:lnSpc>
              <a:spcAft>
                <a:spcPts val="1200"/>
              </a:spcAft>
              <a:buClr>
                <a:srgbClr val="6B0261"/>
              </a:buClr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全球主流金融机构将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ESG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评级纳入投资决策，风电企业天然享有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50-100bp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的融资成本优势。后疫情时代公众对空气质量的关注，降低了项目核准的社会阻力。但与此同时，鸟类保护、噪音控制等生态诉求对项目选址和环评能力提出更高要求。社会层面已形成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“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资本青睐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+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公众认可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+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环保约束</a:t>
            </a:r>
            <a:r>
              <a:rPr lang="en-US" altLang="zh-CN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”</a:t>
            </a:r>
            <a:r>
              <a:rPr lang="zh-CN" altLang="en-US" sz="14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宋体" panose="02010600030101010101" pitchFamily="2" charset="-122"/>
                <a:cs typeface="+mn-ea"/>
                <a:sym typeface="+mn-lt"/>
              </a:rPr>
              <a:t>的态势。</a:t>
            </a:r>
            <a:endParaRPr lang="zh-CN" altLang="en-US" sz="14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5835" y="1717040"/>
            <a:ext cx="10436225" cy="4572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en-US" sz="2000" b="1" kern="0" dirty="0">
              <a:solidFill>
                <a:srgbClr val="FFFFFF"/>
              </a:solidFill>
              <a:latin typeface="Arial" panose="020B0604020202020204"/>
              <a:sym typeface="+mn-lt"/>
            </a:endParaRPr>
          </a:p>
        </p:txBody>
      </p:sp>
      <p:sp>
        <p:nvSpPr>
          <p:cNvPr id="21" name="L 形 20"/>
          <p:cNvSpPr/>
          <p:nvPr/>
        </p:nvSpPr>
        <p:spPr bwMode="auto">
          <a:xfrm rot="5400000">
            <a:off x="467360" y="1282990"/>
            <a:ext cx="628535" cy="628535"/>
          </a:xfrm>
          <a:prstGeom prst="corner">
            <a:avLst>
              <a:gd name="adj1" fmla="val 11572"/>
              <a:gd name="adj2" fmla="val 11638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buSzPct val="25000"/>
              <a:defRPr/>
            </a:pPr>
            <a:endParaRPr lang="en-US" b="1" kern="0" dirty="0">
              <a:solidFill>
                <a:srgbClr val="FFFFFF"/>
              </a:solidFill>
              <a:latin typeface="Arial" panose="020B0604020202020204"/>
              <a:sym typeface="+mn-lt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21" name="组合 20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26" name="平行四边形 25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3"/>
              </a:solidFill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平行四边形 26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22" name="直接连接符 21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</p:cxnSp>
        <p:sp>
          <p:nvSpPr>
            <p:cNvPr id="23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波特五力分析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478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ïşľïḍé"/>
          <p:cNvSpPr/>
          <p:nvPr/>
        </p:nvSpPr>
        <p:spPr>
          <a:xfrm>
            <a:off x="1619450" y="1784550"/>
            <a:ext cx="3708000" cy="37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912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18688"/>
                </a:lnTo>
              </a:path>
            </a:pathLst>
          </a:custGeom>
          <a:noFill/>
          <a:ln w="22225" cap="flat">
            <a:solidFill>
              <a:sysClr val="window" lastClr="FFFFFF">
                <a:lumMod val="75000"/>
              </a:sysClr>
            </a:solidFill>
            <a:prstDash val="solid"/>
            <a:miter lim="400000"/>
          </a:ln>
          <a:effectLst>
            <a:outerShdw blurRad="127000" dist="25400" dir="2700000" algn="tl" rotWithShape="0">
              <a:prstClr val="black">
                <a:alpha val="35000"/>
              </a:prstClr>
            </a:outerShdw>
          </a:effectLst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defTabSz="1460500">
              <a:lnSpc>
                <a:spcPct val="100000"/>
              </a:lnSpc>
              <a:spcBef>
                <a:spcPts val="0"/>
              </a:spcBef>
              <a:defRPr sz="10400">
                <a:solidFill>
                  <a:srgbClr val="000000"/>
                </a:solidFill>
              </a:defRPr>
            </a:pPr>
            <a:endParaRPr sz="1400" kern="0" dirty="0">
              <a:solidFill>
                <a:srgbClr val="000000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4" name="íś1ïḑe"/>
          <p:cNvSpPr txBox="1"/>
          <p:nvPr/>
        </p:nvSpPr>
        <p:spPr bwMode="auto">
          <a:xfrm flipH="1">
            <a:off x="2519447" y="1813125"/>
            <a:ext cx="2807999" cy="46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行业竞争强度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íšlïḑê"/>
          <p:cNvSpPr/>
          <p:nvPr/>
        </p:nvSpPr>
        <p:spPr bwMode="auto">
          <a:xfrm flipH="1">
            <a:off x="2519680" y="2460625"/>
            <a:ext cx="2807970" cy="110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竞争者数量与规模：全球前十大风机制造商中中国企业占据六席并包揽前四名，金风科技国内市场份额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22%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，远景能源、运达股份、明阳智能紧随其后；</a:t>
            </a:r>
            <a:r>
              <a:rPr lang="en-US" altLang="zh-CN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2025</a:t>
            </a:r>
            <a:r>
              <a:rPr lang="zh-CN" altLang="en-US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年头部四家企业新增装机量均在</a:t>
            </a:r>
            <a:r>
              <a:rPr lang="en-US" altLang="zh-CN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10-20GW</a:t>
            </a:r>
            <a:r>
              <a:rPr lang="zh-CN" altLang="en-US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区间，差距未拉开至安全距离</a:t>
            </a:r>
            <a:endParaRPr lang="zh-CN" altLang="en-US" sz="1100" b="1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8" name="iśḷïḍé"/>
          <p:cNvSpPr/>
          <p:nvPr/>
        </p:nvSpPr>
        <p:spPr bwMode="auto">
          <a:xfrm flipH="1">
            <a:off x="2519680" y="3564890"/>
            <a:ext cx="2807970" cy="59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市场增速：新增装机指标实行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配额制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管理，部分省份指标释放</a:t>
            </a:r>
            <a:r>
              <a:rPr lang="zh-CN" altLang="en-US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节奏慢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，加剧了头部企业对有限资源的争夺</a:t>
            </a:r>
            <a:endParaRPr lang="zh-CN" altLang="en-US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9" name="ïšlide"/>
          <p:cNvSpPr/>
          <p:nvPr/>
        </p:nvSpPr>
        <p:spPr bwMode="auto">
          <a:xfrm flipH="1">
            <a:off x="2519680" y="4159250"/>
            <a:ext cx="2807970" cy="59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缺乏差异化：风机产品</a:t>
            </a:r>
            <a:r>
              <a:rPr lang="zh-CN" altLang="en-US" sz="1100" b="1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同质化程度高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，过去几年行业陷入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低价中标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内卷，价格一度逼近成本线</a:t>
            </a: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10" name="iŝliḋé"/>
          <p:cNvSpPr/>
          <p:nvPr/>
        </p:nvSpPr>
        <p:spPr>
          <a:xfrm flipH="1">
            <a:off x="6864550" y="1784550"/>
            <a:ext cx="3708000" cy="37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912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18688"/>
                </a:lnTo>
              </a:path>
            </a:pathLst>
          </a:custGeom>
          <a:noFill/>
          <a:ln w="22225" cap="flat">
            <a:solidFill>
              <a:sysClr val="window" lastClr="FFFFFF">
                <a:lumMod val="75000"/>
              </a:sysClr>
            </a:solidFill>
            <a:prstDash val="solid"/>
            <a:miter lim="400000"/>
          </a:ln>
          <a:effectLst>
            <a:outerShdw blurRad="127000" dist="38100" dir="2700000" algn="tl" rotWithShape="0">
              <a:prstClr val="black">
                <a:alpha val="35000"/>
              </a:prstClr>
            </a:outerShdw>
          </a:effectLst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defTabSz="1460500">
              <a:lnSpc>
                <a:spcPct val="100000"/>
              </a:lnSpc>
              <a:spcBef>
                <a:spcPts val="0"/>
              </a:spcBef>
              <a:defRPr sz="10400">
                <a:solidFill>
                  <a:srgbClr val="000000"/>
                </a:solidFill>
              </a:defRPr>
            </a:pPr>
            <a:endParaRPr sz="1400" kern="0" dirty="0">
              <a:solidFill>
                <a:srgbClr val="000000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11" name="iSlîďè"/>
          <p:cNvSpPr txBox="1"/>
          <p:nvPr/>
        </p:nvSpPr>
        <p:spPr bwMode="auto">
          <a:xfrm>
            <a:off x="6864554" y="1813125"/>
            <a:ext cx="2807999" cy="46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入侵者威胁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较低</a:t>
            </a: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ïśḻïďè"/>
          <p:cNvSpPr/>
          <p:nvPr/>
        </p:nvSpPr>
        <p:spPr bwMode="auto">
          <a:xfrm>
            <a:off x="6864350" y="2460625"/>
            <a:ext cx="2807970" cy="80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资本要求：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20MW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级海上风机研发投入数十亿元，制造基地建设投资巨大，金风科技自研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GTSim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仿真平台完成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4000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余项工况仿真，资本门槛极高</a:t>
            </a:r>
            <a:endParaRPr lang="zh-CN" altLang="en-US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15" name="îŝ1iḍé"/>
          <p:cNvSpPr/>
          <p:nvPr/>
        </p:nvSpPr>
        <p:spPr bwMode="auto">
          <a:xfrm>
            <a:off x="6864350" y="3175635"/>
            <a:ext cx="2807970" cy="61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技术限制：风电机组核心工控设备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PLC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、高端碳纤维、特种树脂、高可靠性主轴承仍存在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卡脖子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风险，新进入者难以短期突破。</a:t>
            </a:r>
            <a:endParaRPr lang="zh-CN" altLang="en-US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marL="171450" indent="-171450" algn="r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17" name="îṥ1ídè"/>
          <p:cNvSpPr/>
          <p:nvPr/>
        </p:nvSpPr>
        <p:spPr bwMode="auto">
          <a:xfrm>
            <a:off x="6864350" y="3789680"/>
            <a:ext cx="2807970" cy="824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转换成本：开发商更换风机供应商需重新进行型号认证、运维体系适配，转换成本较高。倒塔、叶片断裂等事故频发后，开发商更倾向于选择有长期运行业绩的头部企业</a:t>
            </a:r>
            <a:endParaRPr lang="zh-CN" altLang="en-US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19" name="ïṥlíḑè"/>
          <p:cNvSpPr/>
          <p:nvPr/>
        </p:nvSpPr>
        <p:spPr bwMode="auto">
          <a:xfrm>
            <a:off x="6864552" y="4614315"/>
            <a:ext cx="2807999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规模经济：现有头部企业已形成规模化采购、制造、运维能力，单位成本优势明显</a:t>
            </a:r>
            <a:endParaRPr lang="zh-CN" altLang="en-US" sz="110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pic>
        <p:nvPicPr>
          <p:cNvPr id="37" name="图片占位符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98325" y="2281236"/>
            <a:ext cx="1653411" cy="2731247"/>
          </a:xfrm>
          <a:prstGeom prst="rect">
            <a:avLst/>
          </a:prstGeom>
        </p:spPr>
      </p:pic>
      <p:pic>
        <p:nvPicPr>
          <p:cNvPr id="39" name="图片占位符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9" r="13379"/>
          <a:stretch>
            <a:fillRect/>
          </a:stretch>
        </p:blipFill>
        <p:spPr>
          <a:xfrm>
            <a:off x="816804" y="2281237"/>
            <a:ext cx="1500325" cy="2731261"/>
          </a:xfrm>
          <a:prstGeom prst="rect">
            <a:avLst/>
          </a:prstGeom>
        </p:spPr>
      </p:pic>
      <p:sp>
        <p:nvSpPr>
          <p:cNvPr id="18" name="iSlîďè"/>
          <p:cNvSpPr txBox="1"/>
          <p:nvPr/>
        </p:nvSpPr>
        <p:spPr bwMode="auto">
          <a:xfrm>
            <a:off x="7027114" y="5012890"/>
            <a:ext cx="2807999" cy="46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行业进入壁垒较高</a:t>
            </a:r>
            <a:endParaRPr lang="zh-CN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361" y="116633"/>
            <a:ext cx="11569986" cy="6681374"/>
            <a:chOff x="335361" y="116633"/>
            <a:chExt cx="11569986" cy="6681374"/>
          </a:xfrm>
        </p:grpSpPr>
        <p:grpSp>
          <p:nvGrpSpPr>
            <p:cNvPr id="3" name="组合 2"/>
            <p:cNvGrpSpPr/>
            <p:nvPr/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/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chemeClr val="accent3"/>
              </a:solidFill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/>
          </p:nvSpPr>
          <p:spPr>
            <a:xfrm>
              <a:off x="1127448" y="193957"/>
              <a:ext cx="5040313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478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波特五力分析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8478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805366" y="6428675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JUNE 12</a:t>
              </a:r>
              <a:r>
                <a:rPr kumimoji="0" lang="en-US" altLang="zh-CN" sz="1800" b="1" i="0" u="none" strike="noStrike" kern="0" cap="none" spc="0" normalizeH="0" baseline="3000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</a:t>
              </a: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îŝľiḍê"/>
          <p:cNvSpPr/>
          <p:nvPr/>
        </p:nvSpPr>
        <p:spPr>
          <a:xfrm>
            <a:off x="-30480" y="3766185"/>
            <a:ext cx="12192000" cy="2291080"/>
          </a:xfrm>
          <a:prstGeom prst="trapezoid">
            <a:avLst>
              <a:gd name="adj" fmla="val 92298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b"/>
          <a:lstStyle/>
          <a:p>
            <a:pPr algn="l" defTabSz="913765">
              <a:lnSpc>
                <a:spcPct val="150000"/>
              </a:lnSpc>
              <a:buSzPct val="25000"/>
              <a:defRPr/>
            </a:pPr>
            <a:r>
              <a:rPr 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最大竞争威胁：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1.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国内市场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内卷式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竞争</a:t>
            </a:r>
            <a:endParaRPr lang="zh-CN" altLang="en-US" sz="1400" kern="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algn="l" defTabSz="913765">
              <a:lnSpc>
                <a:spcPct val="150000"/>
              </a:lnSpc>
              <a:buSzPct val="25000"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2.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上游核心部件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卡脖子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与供应商议价能力高</a:t>
            </a:r>
            <a:endParaRPr lang="zh-CN" altLang="en-US" sz="1400" kern="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algn="l" defTabSz="913765">
              <a:lnSpc>
                <a:spcPct val="150000"/>
              </a:lnSpc>
              <a:buSzPct val="25000"/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应对竞争的初步思路：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1.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应对市场内卷：以创新性构建差异化优势，开发绿色甲醇、深远海风电等具有高附加值的产业模式，跳出传统红海竞争；通过行业协会推动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反内卷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共识落地</a:t>
            </a:r>
            <a:endParaRPr lang="zh-CN" altLang="en-US" sz="1400" kern="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  <a:p>
            <a:pPr algn="l" defTabSz="913765">
              <a:lnSpc>
                <a:spcPct val="150000"/>
              </a:lnSpc>
              <a:buSzPct val="25000"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2.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应对部件卡脖子：加大</a:t>
            </a:r>
            <a:r>
              <a:rPr lang="zh-CN" altLang="en-US" sz="1400" b="1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关键部件自主研发投入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，通过产业投资锁定核心供应商（如金风科技通过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“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直接股权投资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+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战略合作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+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联合研发</a:t>
            </a:r>
            <a:r>
              <a:rPr lang="en-US" altLang="zh-CN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”</a:t>
            </a:r>
            <a:r>
              <a:rPr lang="zh-CN" altLang="en-US" sz="1400" kern="0" dirty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rPr>
              <a:t>三位一体的方式，锁定核心供应商），构建安全可控的供应链体系</a:t>
            </a:r>
            <a:endParaRPr lang="zh-CN" altLang="en-US" sz="1400" kern="0" dirty="0">
              <a:solidFill>
                <a:prstClr val="black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grpSp>
        <p:nvGrpSpPr>
          <p:cNvPr id="15" name="ï$ľîḑè"/>
          <p:cNvGrpSpPr/>
          <p:nvPr>
            <p:custDataLst>
              <p:tags r:id="rId1"/>
            </p:custDataLst>
          </p:nvPr>
        </p:nvGrpSpPr>
        <p:grpSpPr>
          <a:xfrm>
            <a:off x="1127125" y="1410335"/>
            <a:ext cx="9500870" cy="2009775"/>
            <a:chOff x="1356784" y="1917130"/>
            <a:chExt cx="9092128" cy="3161994"/>
          </a:xfrm>
        </p:grpSpPr>
        <p:grpSp>
          <p:nvGrpSpPr>
            <p:cNvPr id="16" name="isḻíḍé"/>
            <p:cNvGrpSpPr/>
            <p:nvPr/>
          </p:nvGrpSpPr>
          <p:grpSpPr>
            <a:xfrm>
              <a:off x="1356784" y="1917130"/>
              <a:ext cx="2853696" cy="3161994"/>
              <a:chOff x="1356784" y="1917130"/>
              <a:chExt cx="2853696" cy="3161994"/>
            </a:xfrm>
          </p:grpSpPr>
          <p:sp>
            <p:nvSpPr>
              <p:cNvPr id="37" name="işlïḋê"/>
              <p:cNvSpPr/>
              <p:nvPr>
                <p:custDataLst>
                  <p:tags r:id="rId2"/>
                </p:custDataLst>
              </p:nvPr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chemeClr val="accent3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8" name="ïşḻîḓe"/>
              <p:cNvSpPr/>
              <p:nvPr>
                <p:custDataLst>
                  <p:tags r:id="rId3"/>
                </p:custDataLst>
              </p:nvPr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chemeClr val="accent3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0" name="îṡḷíďê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 fontScale="90000"/>
              </a:bodyPr>
              <a:lstStyle/>
              <a:p>
                <a:pPr>
                  <a:defRPr/>
                </a:pP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颠覆者威胁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——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较低</a:t>
                </a:r>
                <a:endParaRPr lang="zh-CN" altLang="en-US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iślíde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57419" y="2452435"/>
                <a:ext cx="2853055" cy="245618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新能源发电中，风电的主要替代品为光伏。光伏在部分场景具备</a:t>
                </a:r>
                <a:r>
                  <a:rPr lang="zh-CN" altLang="en-US" sz="1100" b="1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成本优势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，但风电在</a:t>
                </a:r>
                <a:r>
                  <a:rPr lang="zh-CN" altLang="en-US" sz="1100" b="1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夜间发电、海上资源开发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方面具备独特优势</a:t>
                </a:r>
                <a:endParaRPr lang="zh-CN" altLang="en-US" sz="1100"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7" name="íṣļîďê"/>
            <p:cNvGrpSpPr/>
            <p:nvPr/>
          </p:nvGrpSpPr>
          <p:grpSpPr>
            <a:xfrm>
              <a:off x="4476000" y="1917130"/>
              <a:ext cx="2853696" cy="3161994"/>
              <a:chOff x="1356784" y="1917130"/>
              <a:chExt cx="2853696" cy="3161994"/>
            </a:xfrm>
          </p:grpSpPr>
          <p:sp>
            <p:nvSpPr>
              <p:cNvPr id="28" name="íšlïdê"/>
              <p:cNvSpPr/>
              <p:nvPr>
                <p:custDataLst>
                  <p:tags r:id="rId6"/>
                </p:custDataLst>
              </p:nvPr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chemeClr val="accent3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9" name="îṡľide"/>
              <p:cNvSpPr/>
              <p:nvPr>
                <p:custDataLst>
                  <p:tags r:id="rId7"/>
                </p:custDataLst>
              </p:nvPr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chemeClr val="accent3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1" name="ïṧľîḑê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 fontScale="80000"/>
              </a:bodyPr>
              <a:lstStyle/>
              <a:p>
                <a:pPr>
                  <a:defRPr/>
                </a:pP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供应商议价能力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——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较高</a:t>
                </a:r>
                <a:endParaRPr lang="zh-CN" altLang="en-US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iṣ1íďê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357419" y="2518475"/>
                <a:ext cx="2853055" cy="239014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上游关键零部件（主轴承、齿轮箱、碳纤维材料、</a:t>
                </a:r>
                <a:r>
                  <a:rPr lang="en-US" altLang="zh-CN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PLC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控制系统）仍依赖少数供应商，存在</a:t>
                </a:r>
                <a:r>
                  <a:rPr lang="en-US" altLang="zh-CN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“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卡脖子</a:t>
                </a:r>
                <a:r>
                  <a:rPr lang="en-US" altLang="zh-CN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”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风险，对供应商依赖程度较高</a:t>
                </a:r>
                <a:endParaRPr lang="zh-CN" altLang="en-US" sz="1100"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8" name="îśľîḑe"/>
            <p:cNvGrpSpPr/>
            <p:nvPr/>
          </p:nvGrpSpPr>
          <p:grpSpPr>
            <a:xfrm>
              <a:off x="7595216" y="1917130"/>
              <a:ext cx="2853696" cy="3161994"/>
              <a:chOff x="1356784" y="1917130"/>
              <a:chExt cx="2853696" cy="3161994"/>
            </a:xfrm>
          </p:grpSpPr>
          <p:sp>
            <p:nvSpPr>
              <p:cNvPr id="19" name="îṥḻïḍê"/>
              <p:cNvSpPr/>
              <p:nvPr>
                <p:custDataLst>
                  <p:tags r:id="rId10"/>
                </p:custDataLst>
              </p:nvPr>
            </p:nvSpPr>
            <p:spPr>
              <a:xfrm>
                <a:off x="1356784" y="1917130"/>
                <a:ext cx="2853695" cy="3161994"/>
              </a:xfrm>
              <a:prstGeom prst="snip1Rect">
                <a:avLst>
                  <a:gd name="adj" fmla="val 40731"/>
                </a:avLst>
              </a:prstGeom>
              <a:solidFill>
                <a:sysClr val="window" lastClr="FFFFFF"/>
              </a:solidFill>
              <a:ln w="3175" cap="flat" cmpd="sng" algn="ctr">
                <a:solidFill>
                  <a:schemeClr val="accent3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" name="ïṥḻiḋê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56785" y="4955943"/>
                <a:ext cx="2853695" cy="123181"/>
              </a:xfrm>
              <a:prstGeom prst="rect">
                <a:avLst/>
              </a:prstGeom>
              <a:solidFill>
                <a:schemeClr val="accent3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" name="ïṧliḑè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57283" y="1930354"/>
                <a:ext cx="1588717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 fontScale="90000"/>
              </a:bodyPr>
              <a:lstStyle/>
              <a:p>
                <a:pPr>
                  <a:defRPr/>
                </a:pP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客户议价能力</a:t>
                </a:r>
                <a:r>
                  <a:rPr lang="en-US" altLang="zh-CN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——</a:t>
                </a:r>
                <a:r>
                  <a:rPr lang="zh-CN" altLang="en-US" b="1" kern="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较高</a:t>
                </a:r>
                <a:endParaRPr lang="zh-CN" altLang="en-US" b="1" kern="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îŝliďè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357419" y="2518475"/>
                <a:ext cx="2853055" cy="2390140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2025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年电价市场化改革（</a:t>
                </a:r>
                <a:r>
                  <a:rPr lang="en-US" altLang="zh-CN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136</a:t>
                </a:r>
                <a:r>
                  <a:rPr lang="zh-CN" altLang="en-US" sz="1100" kern="0" dirty="0">
                    <a:solidFill>
                      <a:prstClr val="black"/>
                    </a:solidFill>
                    <a:latin typeface="Arial" panose="020B0604020202020204"/>
                    <a:ea typeface="微软雅黑 Light" panose="020B0502040204020203" pitchFamily="34" charset="-122"/>
                  </a:rPr>
                  <a:t>号文）后，风电电量原则上全部入市，电价由市场形成，买方可通过电力市场交易进一步压低采购价格，具备较强的议价能力</a:t>
                </a:r>
                <a:endParaRPr lang="zh-CN" altLang="en-US" sz="1100" kern="0" dirty="0">
                  <a:solidFill>
                    <a:prstClr val="black"/>
                  </a:solidFill>
                  <a:latin typeface="Arial" panose="020B0604020202020204"/>
                  <a:ea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</p:sld>
</file>

<file path=ppt/tags/tag1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2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3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4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5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6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7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8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9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10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11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12.xml><?xml version="1.0" encoding="utf-8"?>
<p:tagLst xmlns:p="http://schemas.openxmlformats.org/presentationml/2006/main">
  <p:tag name="KSO_WM_DIAGRAM_VIRTUALLY_FRAME" val="{&quot;height&quot;:344.6892125984252,&quot;left&quot;:85.28007874015748,&quot;top&quot;:109.64393700787403,&quot;width&quot;:791.3391338582676}"/>
</p:tagLst>
</file>

<file path=ppt/tags/tag13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4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5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6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7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8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19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0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1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2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3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4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ags/tag25.xml><?xml version="1.0" encoding="utf-8"?>
<p:tagLst xmlns:p="http://schemas.openxmlformats.org/presentationml/2006/main">
  <p:tag name="KSO_WM_DIAGRAM_VIRTUALLY_FRAME" val="{&quot;height&quot;:259.1070078740157,&quot;left&quot;:88.75,&quot;top&quot;:111.05,&quot;width&quot;:748.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08478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08478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B0261">
            <a:alpha val="82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kern="0" dirty="0">
            <a:solidFill>
              <a:srgbClr val="FFFFFF"/>
            </a:solidFill>
            <a:latin typeface="Arial" panose="020B0604020202020204"/>
            <a:ea typeface="微软雅黑" panose="020B0503020204020204" charset="-122"/>
            <a:cs typeface="+mn-ea"/>
            <a:sym typeface="+mn-lt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08478A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WPS 演示</Application>
  <PresentationFormat>宽屏</PresentationFormat>
  <Paragraphs>109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华文行楷</vt:lpstr>
      <vt:lpstr>阿里巴巴普惠体 B</vt:lpstr>
      <vt:lpstr>微软雅黑 Light</vt:lpstr>
      <vt:lpstr>Calibri</vt:lpstr>
      <vt:lpstr>Impact</vt:lpstr>
      <vt:lpstr>Arial Black</vt:lpstr>
      <vt:lpstr>等线</vt:lpstr>
      <vt:lpstr>Arial Unicode MS</vt:lpstr>
      <vt:lpstr>等线 Light</vt:lpstr>
      <vt:lpstr>Segoe UI Semibold</vt:lpstr>
      <vt:lpstr>Calibri</vt:lpstr>
      <vt:lpstr>阿里巴巴普惠体</vt:lpstr>
      <vt:lpstr>quote-cjk-patch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王欣雨</cp:lastModifiedBy>
  <cp:revision>49</cp:revision>
  <dcterms:created xsi:type="dcterms:W3CDTF">2020-08-12T02:12:00Z</dcterms:created>
  <dcterms:modified xsi:type="dcterms:W3CDTF">2026-03-25T09:48:21Z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380C5B0164D342409E8020120A9E0592_13</vt:lpwstr>
  </property>
  <property fmtid="{D5CDD505-2E9C-101B-9397-08002B2CF9AE}" pid="3" name="KSOProductBuildVer">
    <vt:lpwstr>2052-12.1.0.23542</vt:lpwstr>
  </property>
</Properties>
</file>